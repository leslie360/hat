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15" r:id="rId3"/>
    <p:sldId id="316" r:id="rId4"/>
    <p:sldId id="317" r:id="rId5"/>
    <p:sldId id="318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 varScale="1">
        <p:scale>
          <a:sx n="45" d="100"/>
          <a:sy n="45" d="100"/>
        </p:scale>
        <p:origin x="64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B853F-37D6-9B46-6992-3BB881A03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F2A8E0-734E-608B-1E0E-4D78C13DF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33CDDD-E628-2EBC-BF57-1B48040B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855D3-4758-19B7-EE8A-F46C4736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8E4A7-6121-A7D9-3906-C64D69CA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32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7A6CB-418F-D8DC-1575-6410FD71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70B13-5E3F-3699-F774-CB8938C3B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F5F63-EA3A-D04D-D4B8-9054E7B0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6808FF-A85A-DD71-B1CA-EC7D5BBF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7D2FA5-6370-056C-17D8-C9902D0F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09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ACA24-F8F2-EE70-B5B8-9A80C72C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B7E310-AF3F-EEEB-68B9-06F89D621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50C51-C3AD-3F60-EEDE-8213EBDC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CA08DE-F535-1D09-B4FD-04E78E2D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192A69-F511-FBEE-95CF-24F12411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48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C3A0F-D548-879D-7576-CFECE962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D7388-8CF7-90D2-E8CA-C59972C95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2E0D1-CE8F-322B-641D-23200F896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00793C-7041-9A7F-941C-544E3A64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C52EEF-CB08-4260-AE85-73FF82BF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634B69-A8B3-41BA-1625-51F16F22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765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9F6D8-DA71-4ED0-63B6-4F5CCC7B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98BA67-6ECF-7513-0DAE-C3D8CEB8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EC2E5D-F7AA-4329-3D21-D17A03361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D12F57-4122-67A2-6E0D-8E2C9F809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B86537-C218-E472-7F17-863473183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C2D72-57DC-A82D-CBC9-0A27ECED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796744-89F0-F041-102B-1FC30446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5E2738-2E17-15C3-67DC-D94EEE9F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64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D1685-5983-19CE-4DEC-19F43A3A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293E53-45CA-E284-8688-2276F7F5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293735-CB84-189D-89DA-0F0E3D8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E3F5CE-67B0-EE1E-953E-F373B77F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96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955253-E489-930A-1924-33EBE725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CF3964-DF02-6186-8593-9FF30FA6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CE5167-205B-7F60-3EA2-2BB2956B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16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D8126-B883-F2DF-2A3E-FC261F3C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81E67-37A2-94B8-F5A3-E6A682D1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9D0E08-65D6-1143-FF1D-A86D59300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CD19C2-FCB7-F271-6365-11EB3F87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D6CC4-854A-0184-1C09-61F74AF4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2CD55-2F52-BCFB-92BA-288F55B2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7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65A52-C856-B654-BD33-0C91F7AC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B103BE-FCA4-0EA9-B5FA-070A9D661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6D777E-17F1-C1D7-3C38-54186FCBD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958914-DD72-F9F3-2693-48DF28E1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29C64F-9670-927B-038E-226EFB32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E5280F-147E-E8CF-041A-0BAA3EC2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39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C9AF2-D469-46AC-C386-4A51D775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BBFF0F-AC89-1733-A3F7-8A5C456A9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14876-9BFB-E2A1-D5FB-46CD6400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6E1E71-8495-30D3-1A27-631382B8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D3AE4-3126-6F23-4AFA-A3D3771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32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CA0B3C-828C-4966-6FCA-E621D5F79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CBB0D3-316A-BC7E-C302-F9B423829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44E24-58B2-92F4-567B-12068EA1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09B02-FC66-CEE6-10F2-D7861815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554D6-9ECD-E480-339C-A43EF53F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434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B853F-37D6-9B46-6992-3BB881A03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F2A8E0-734E-608B-1E0E-4D78C13DF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33CDDD-E628-2EBC-BF57-1B48040B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855D3-4758-19B7-EE8A-F46C4736D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8E4A7-6121-A7D9-3906-C64D69CA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329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7A6CB-418F-D8DC-1575-6410FD71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70B13-5E3F-3699-F774-CB8938C3B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F5F63-EA3A-D04D-D4B8-9054E7B0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6808FF-A85A-DD71-B1CA-EC7D5BBF4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7D2FA5-6370-056C-17D8-C9902D0F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090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ACA24-F8F2-EE70-B5B8-9A80C72C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B7E310-AF3F-EEEB-68B9-06F89D621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050C51-C3AD-3F60-EEDE-8213EBDC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CA08DE-F535-1D09-B4FD-04E78E2DF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192A69-F511-FBEE-95CF-24F12411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485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C3A0F-D548-879D-7576-CFECE962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D7388-8CF7-90D2-E8CA-C59972C95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2E0D1-CE8F-322B-641D-23200F896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00793C-7041-9A7F-941C-544E3A64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C52EEF-CB08-4260-AE85-73FF82BF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634B69-A8B3-41BA-1625-51F16F22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765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9F6D8-DA71-4ED0-63B6-4F5CCC7B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98BA67-6ECF-7513-0DAE-C3D8CEB8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EC2E5D-F7AA-4329-3D21-D17A03361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D12F57-4122-67A2-6E0D-8E2C9F809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B86537-C218-E472-7F17-863473183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C2D72-57DC-A82D-CBC9-0A27ECED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796744-89F0-F041-102B-1FC30446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5E2738-2E17-15C3-67DC-D94EEE9F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641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D1685-5983-19CE-4DEC-19F43A3A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293E53-45CA-E284-8688-2276F7F5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293735-CB84-189D-89DA-0F0E3D8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E3F5CE-67B0-EE1E-953E-F373B77F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96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955253-E489-930A-1924-33EBE7250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CF3964-DF02-6186-8593-9FF30FA6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CE5167-205B-7F60-3EA2-2BB2956B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1682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D8126-B883-F2DF-2A3E-FC261F3C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81E67-37A2-94B8-F5A3-E6A682D16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9D0E08-65D6-1143-FF1D-A86D59300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CD19C2-FCB7-F271-6365-11EB3F87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D6CC4-854A-0184-1C09-61F74AF4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2CD55-2F52-BCFB-92BA-288F55B2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788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65A52-C856-B654-BD33-0C91F7AC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B103BE-FCA4-0EA9-B5FA-070A9D661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6D777E-17F1-C1D7-3C38-54186FCBD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958914-DD72-F9F3-2693-48DF28E1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29C64F-9670-927B-038E-226EFB32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E5280F-147E-E8CF-041A-0BAA3EC2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397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C9AF2-D469-46AC-C386-4A51D7752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BBFF0F-AC89-1733-A3F7-8A5C456A9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14876-9BFB-E2A1-D5FB-46CD6400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6E1E71-8495-30D3-1A27-631382B8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D3AE4-3126-6F23-4AFA-A3D3771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323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CA0B3C-828C-4966-6FCA-E621D5F79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CBB0D3-316A-BC7E-C302-F9B423829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44E24-58B2-92F4-567B-12068EA1F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109B02-FC66-CEE6-10F2-D7861815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554D6-9ECD-E480-339C-A43EF53F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43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6630D4-BBFD-D6BC-FC3C-2CFD8911A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4D6D5-9C76-0661-0973-EBC8F09FC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2CF74-1596-B6E9-DC9F-FABC257E9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AFAEC-4FB2-A5D3-29FF-A1D4DA2C0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10724-51D6-120F-D728-9511718E8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30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6630D4-BBFD-D6BC-FC3C-2CFD8911A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4D6D5-9C76-0661-0973-EBC8F09FC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12CF74-1596-B6E9-DC9F-FABC257E9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54936-C04E-4216-B0BC-3EA9248945A8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CAFAEC-4FB2-A5D3-29FF-A1D4DA2C0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10724-51D6-120F-D728-9511718E8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F555-48E4-40B2-AB0F-1B0EC41828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00" name="AccentBar"/>
          <p:cNvSpPr>
            <a:spLocks noGrp="1"/>
          </p:cNvSpPr>
          <p:nvPr/>
        </p:nvSpPr>
        <p:spPr>
          <a:xfrm>
            <a:off x="0" y="6218400"/>
            <a:ext cx="9144000" cy="4572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TopBar"/>
          <p:cNvSpPr>
            <a:spLocks noGrp="1"/>
          </p:cNvSpPr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730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B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B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ftPanel"/>
          <p:cNvSpPr>
            <a:spLocks noGrp="1"/>
          </p:cNvSpPr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Stripe"/>
          <p:cNvSpPr>
            <a:spLocks noGrp="1"/>
          </p:cNvSpPr>
          <p:nvPr/>
        </p:nvSpPr>
        <p:spPr>
          <a:xfrm>
            <a:off x="5486400" y="0"/>
            <a:ext cx="114300" cy="6858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ag"/>
          <p:cNvSpPr/>
          <p:nvPr/>
        </p:nvSpPr>
        <p:spPr>
          <a:xfrm>
            <a:off x="342900" y="457200"/>
            <a:ext cx="3200400" cy="342900"/>
          </a:xfrm>
          <a:prstGeom prst="roundRect">
            <a:avLst>
              <a:gd name="adj" fmla="val 50000"/>
            </a:avLst>
          </a:prstGeom>
          <a:solidFill>
            <a:srgbClr val="1A5CA8"/>
          </a:solidFill>
          <a:ln>
            <a:noFill/>
          </a:ln>
        </p:spPr>
        <p:txBody>
          <a:bodyPr lIns="114300" rIns="114300" anchor="ctr"/>
          <a:lstStyle/>
          <a:p>
            <a:pPr algn="l">
              <a:buNone/>
            </a:pPr>
            <a:r>
              <a:rPr lang="zh-CN" sz="1400" b="0" dirty="0">
                <a:solidFill>
                  <a:srgbClr val="FFFFFF"/>
                </a:solidFill>
                <a:latin typeface="Times New Roman"/>
              </a:rPr>
              <a:t>阶段性成果汇报 · OrgOptEdge 课题组</a:t>
            </a:r>
          </a:p>
        </p:txBody>
      </p:sp>
      <p:sp>
        <p:nvSpPr>
          <p:cNvPr id="13" name="MainTitle"/>
          <p:cNvSpPr/>
          <p:nvPr/>
        </p:nvSpPr>
        <p:spPr>
          <a:xfrm>
            <a:off x="342900" y="914400"/>
            <a:ext cx="4800600" cy="2743200"/>
          </a:xfrm>
          <a:prstGeom prst="rect">
            <a:avLst/>
          </a:prstGeom>
          <a:noFill/>
        </p:spPr>
        <p:txBody>
          <a:bodyPr wrap="square" lIns="0" tIns="0" rIns="0" anchor="ctr"/>
          <a:lstStyle/>
          <a:p>
            <a:pPr algn="l">
              <a:buNone/>
            </a:pPr>
            <a:r>
              <a:rPr lang="zh-CN" sz="3600" b="1" dirty="0">
                <a:solidFill>
                  <a:srgbClr val="FFFFFF"/>
                </a:solidFill>
                <a:latin typeface="Times New Roman"/>
              </a:rPr>
              <a:t>阶段性成果汇报</a:t>
            </a:r>
          </a:p>
          <a:p>
            <a:pPr algn="l">
              <a:buNone/>
            </a:pPr>
            <a:r>
              <a:rPr lang="zh-CN" sz="500" dirty="0">
                <a:solidFill>
                  <a:srgbClr val="1A2B4A"/>
                </a:solidFill>
                <a:latin typeface="Times New Roman"/>
              </a:rPr>
              <a:t> </a:t>
            </a:r>
          </a:p>
          <a:p>
            <a:pPr algn="l">
              <a:buNone/>
            </a:pPr>
            <a:r>
              <a:rPr lang="zh-CN" sz="2000" b="0" dirty="0">
                <a:solidFill>
                  <a:srgbClr val="4D9DE0"/>
                </a:solidFill>
                <a:latin typeface="Times New Roman"/>
              </a:rPr>
              <a:t>面向有机光电器件的</a:t>
            </a:r>
          </a:p>
          <a:p>
            <a:pPr algn="l">
              <a:buNone/>
            </a:pPr>
            <a:r>
              <a:rPr lang="zh-CN" sz="2000" b="0" dirty="0">
                <a:solidFill>
                  <a:srgbClr val="4D9DE0"/>
                </a:solidFill>
                <a:latin typeface="Times New Roman"/>
              </a:rPr>
              <a:t>任务级行为模拟框架</a:t>
            </a:r>
          </a:p>
        </p:txBody>
      </p:sp>
      <p:sp>
        <p:nvSpPr>
          <p:cNvPr id="14" name="Divider"/>
          <p:cNvSpPr>
            <a:spLocks noGrp="1"/>
          </p:cNvSpPr>
          <p:nvPr/>
        </p:nvSpPr>
        <p:spPr>
          <a:xfrm>
            <a:off x="342900" y="3886200"/>
            <a:ext cx="4572000" cy="381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AuthorInfo"/>
          <p:cNvSpPr/>
          <p:nvPr/>
        </p:nvSpPr>
        <p:spPr>
          <a:xfrm>
            <a:off x="342900" y="3962400"/>
            <a:ext cx="4800600" cy="1143000"/>
          </a:xfrm>
          <a:prstGeom prst="rect">
            <a:avLst/>
          </a:prstGeom>
          <a:noFill/>
        </p:spPr>
        <p:txBody>
          <a:bodyPr wrap="square" lIns="0" tIns="114300" rIns="0" anchor="t"/>
          <a:lstStyle/>
          <a:p>
            <a:pPr algn="l">
              <a:buNone/>
            </a:pPr>
            <a:r>
              <a:rPr lang="zh-CN" sz="1800" b="1" dirty="0">
                <a:solidFill>
                  <a:srgbClr val="FFFFFF"/>
                </a:solidFill>
                <a:latin typeface="Times New Roman"/>
              </a:rPr>
              <a:t>汇报人：Songqiao Li</a:t>
            </a:r>
          </a:p>
          <a:p>
            <a:pPr algn="l">
              <a:buNone/>
            </a:pPr>
            <a:r>
              <a:rPr lang="zh-CN" sz="1500" b="0" dirty="0">
                <a:solidFill>
                  <a:srgbClr val="7AAAD4"/>
                </a:solidFill>
                <a:latin typeface="Times New Roman"/>
              </a:rPr>
              <a:t>课题组：OrgOptEdge</a:t>
            </a:r>
          </a:p>
          <a:p>
            <a:pPr algn="l">
              <a:buNone/>
            </a:pPr>
            <a:r>
              <a:rPr lang="zh-CN" sz="1500" b="0" dirty="0">
                <a:solidFill>
                  <a:srgbClr val="7AAAD4"/>
                </a:solidFill>
                <a:latin typeface="Times New Roman"/>
              </a:rPr>
              <a:t>日期：2026 年 4 月</a:t>
            </a:r>
          </a:p>
        </p:txBody>
      </p:sp>
      <p:sp>
        <p:nvSpPr>
          <p:cNvPr id="16" name="RightBg"/>
          <p:cNvSpPr>
            <a:spLocks noGrp="1"/>
          </p:cNvSpPr>
          <p:nvPr/>
        </p:nvSpPr>
        <p:spPr>
          <a:xfrm>
            <a:off x="5714100" y="0"/>
            <a:ext cx="6477900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ightLabel"/>
          <p:cNvSpPr/>
          <p:nvPr/>
        </p:nvSpPr>
        <p:spPr>
          <a:xfrm>
            <a:off x="5943600" y="2628600"/>
            <a:ext cx="5943600" cy="1600200"/>
          </a:xfrm>
          <a:prstGeom prst="rect">
            <a:avLst/>
          </a:prstGeom>
          <a:noFill/>
        </p:spPr>
        <p:txBody>
          <a:bodyPr wrap="square" lIns="114300" tIns="114300" rIns="1143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A5CA8"/>
                </a:solidFill>
                <a:latin typeface="Times New Roman"/>
              </a:rPr>
              <a:t>Profile-Driven Hardware Simulation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1A5CA8"/>
                </a:solidFill>
                <a:latin typeface="Times New Roman"/>
              </a:rPr>
              <a:t>for Organic Optoelectronic Edge Vision</a:t>
            </a:r>
          </a:p>
          <a:p>
            <a:pPr algn="ctr">
              <a:buNone/>
            </a:pPr>
            <a:r>
              <a:rPr lang="zh-CN" sz="6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888888"/>
                </a:solidFill>
                <a:latin typeface="Times New Roman"/>
              </a:rPr>
              <a:t>Device → Profile → Simulation → Task Accuracy</a:t>
            </a:r>
          </a:p>
          <a:p>
            <a:pPr algn="ctr">
              <a:buNone/>
            </a:pPr>
            <a:r>
              <a:rPr lang="zh-CN" sz="1300" b="0" dirty="0">
                <a:solidFill>
                  <a:srgbClr val="888888"/>
                </a:solidFill>
                <a:latin typeface="Times New Roman"/>
              </a:rPr>
              <a:t>Tiny-ViT · ConvNeXt · ResNet-18</a:t>
            </a:r>
          </a:p>
        </p:txBody>
      </p:sp>
    </p:spTree>
    <p:extLst>
      <p:ext uri="{BB962C8B-B14F-4D97-AF65-F5344CB8AC3E}">
        <p14:creationId xmlns:p14="http://schemas.microsoft.com/office/powerpoint/2010/main" val="184834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zh-CN" sz="2600" b="1" dirty="0">
                <a:solidFill>
                  <a:srgbClr val="FFFFFF"/>
                </a:solidFill>
                <a:latin typeface="Times New Roman"/>
              </a:rPr>
              <a:t>研究背景与问题定义</a:t>
            </a:r>
            <a:r>
              <a:rPr lang="en-US" sz="1500" b="0" dirty="0">
                <a:solidFill>
                  <a:srgbClr val="7AAAD4"/>
                </a:solidFill>
                <a:latin typeface="Times New Roman"/>
              </a:rPr>
              <a:t>   Research Background</a:t>
            </a:r>
          </a:p>
        </p:txBody>
      </p:sp>
      <p:sp>
        <p:nvSpPr>
          <p:cNvPr id="2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400" b="0" dirty="0">
                <a:solidFill>
                  <a:srgbClr val="7AAAD4"/>
                </a:solidFill>
                <a:latin typeface="Times New Roman"/>
              </a:rPr>
              <a:t>2 / 12</a:t>
            </a:r>
          </a:p>
        </p:txBody>
      </p:sp>
      <p:sp>
        <p:nvSpPr>
          <p:cNvPr id="23" name="MainCard"/>
          <p:cNvSpPr>
            <a:spLocks noGrp="1"/>
          </p:cNvSpPr>
          <p:nvPr/>
        </p:nvSpPr>
        <p:spPr>
          <a:xfrm>
            <a:off x="228600" y="730000"/>
            <a:ext cx="117348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ontent"/>
          <p:cNvSpPr/>
          <p:nvPr/>
        </p:nvSpPr>
        <p:spPr>
          <a:xfrm>
            <a:off x="457200" y="821440"/>
            <a:ext cx="112788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器件潜力与背景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有机光电/电化学器件：多级电导调制、低静态功耗、光响应可编程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近期阵列级实验 (Liu 2025 光刻 OPECT, Hu 2023 固态有机阵列) 验证了批量化可行性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Compute-in-Memory (CIM) 架构消除 von Neumann 瓶颈，MVM 直接在存储阵列完成</a:t>
            </a:r>
          </a:p>
          <a:p>
            <a:pPr marL="0" indent="0">
              <a:buNone/>
            </a:pPr>
            <a:r>
              <a:rPr lang="zh-CN" sz="6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核心挑战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ADC 精度、D2D/C2C 变异、retention 漂移、write nonlinearity 共同决定部署可行性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现有模拟器多面向无机 RRAM/PCM，缺少对有机器件 photoresponse、双指数 retention 的建模</a:t>
            </a:r>
          </a:p>
          <a:p>
            <a:pPr marL="0" indent="0">
              <a:buNone/>
            </a:pPr>
            <a:r>
              <a:rPr lang="zh-CN" sz="6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评估矩阵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三类模型：</a:t>
            </a:r>
            <a:r>
              <a:rPr lang="en-US" sz="1700" b="1" dirty="0">
                <a:solidFill>
                  <a:srgbClr val="1A2B4A"/>
                </a:solidFill>
                <a:latin typeface="Times New Roman"/>
              </a:rPr>
              <a:t>ResNet-18</a:t>
            </a:r>
            <a:r>
              <a:rPr lang="zh-CN" sz="1700" dirty="0">
                <a:solidFill>
                  <a:srgbClr val="1A2B4A"/>
                </a:solidFill>
                <a:latin typeface="Times New Roman"/>
              </a:rPr>
              <a:t> (经典CNN) / </a:t>
            </a:r>
            <a:r>
              <a:rPr lang="en-US" sz="1700" b="1" dirty="0">
                <a:solidFill>
                  <a:srgbClr val="1A2B4A"/>
                </a:solidFill>
                <a:latin typeface="Times New Roman"/>
              </a:rPr>
              <a:t>ConvNeXt-Tiny</a:t>
            </a:r>
            <a:r>
              <a:rPr lang="zh-CN" sz="1700" dirty="0">
                <a:solidFill>
                  <a:srgbClr val="1A2B4A"/>
                </a:solidFill>
                <a:latin typeface="Times New Roman"/>
              </a:rPr>
              <a:t> (现代CNN) / </a:t>
            </a:r>
            <a:r>
              <a:rPr lang="en-US" sz="1700" b="1" dirty="0">
                <a:solidFill>
                  <a:srgbClr val="1A2B4A"/>
                </a:solidFill>
                <a:latin typeface="Times New Roman"/>
              </a:rPr>
              <a:t>Tiny-ViT-5M</a:t>
            </a:r>
            <a:r>
              <a:rPr lang="zh-CN" sz="1700" dirty="0">
                <a:solidFill>
                  <a:srgbClr val="1A2B4A"/>
                </a:solidFill>
                <a:latin typeface="Times New Roman"/>
              </a:rPr>
              <a:t> (ViT)</a:t>
            </a:r>
          </a:p>
          <a:p>
            <a:pPr marL="342900" indent="-342900">
              <a:buFont typeface="Arial"/>
              <a:buChar char="•"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三个数据集：CIFAR-10 / CIFAR-100 / Flowers-102（任务复杂度递增）</a:t>
            </a:r>
          </a:p>
          <a:p>
            <a:pPr marL="0" indent="0">
              <a:buNone/>
            </a:pPr>
            <a:r>
              <a:rPr lang="zh-CN" sz="6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1800" b="1" dirty="0">
                <a:solidFill>
                  <a:srgbClr val="C0392B"/>
                </a:solidFill>
                <a:latin typeface="Times New Roman"/>
              </a:rPr>
              <a:t>核心问题：这些器件特性能不能真正支撑现代视觉模型部署？</a:t>
            </a:r>
          </a:p>
        </p:txBody>
      </p:sp>
    </p:spTree>
    <p:extLst>
      <p:ext uri="{BB962C8B-B14F-4D97-AF65-F5344CB8AC3E}">
        <p14:creationId xmlns:p14="http://schemas.microsoft.com/office/powerpoint/2010/main" val="105756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zh-CN" sz="2600" b="1" dirty="0">
                <a:solidFill>
                  <a:srgbClr val="FFFFFF"/>
                </a:solidFill>
                <a:latin typeface="Times New Roman"/>
              </a:rPr>
              <a:t>现有工作为什么还不够</a:t>
            </a:r>
            <a:r>
              <a:rPr lang="en-US" sz="1500" b="0" dirty="0">
                <a:solidFill>
                  <a:srgbClr val="7AAAD4"/>
                </a:solidFill>
                <a:latin typeface="Times New Roman"/>
              </a:rPr>
              <a:t>   Motivation Gap</a:t>
            </a:r>
          </a:p>
        </p:txBody>
      </p:sp>
      <p:sp>
        <p:nvSpPr>
          <p:cNvPr id="3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400" b="0" dirty="0">
                <a:solidFill>
                  <a:srgbClr val="7AAAD4"/>
                </a:solidFill>
                <a:latin typeface="Times New Roman"/>
              </a:rPr>
              <a:t>3 / 12</a:t>
            </a:r>
          </a:p>
        </p:txBody>
      </p:sp>
      <p:sp>
        <p:nvSpPr>
          <p:cNvPr id="33" name="Card1Bg"/>
          <p:cNvSpPr>
            <a:spLocks noGrp="1"/>
          </p:cNvSpPr>
          <p:nvPr/>
        </p:nvSpPr>
        <p:spPr>
          <a:xfrm>
            <a:off x="228600" y="730000"/>
            <a:ext cx="5715000" cy="6014400"/>
          </a:xfrm>
          <a:prstGeom prst="roundRect">
            <a:avLst>
              <a:gd name="adj" fmla="val 3000"/>
            </a:avLst>
          </a:prstGeom>
          <a:solidFill>
            <a:srgbClr val="EBF2FA"/>
          </a:solidFill>
          <a:ln w="19050">
            <a:solidFill>
              <a:srgbClr val="1A5C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rd1Text"/>
          <p:cNvSpPr/>
          <p:nvPr/>
        </p:nvSpPr>
        <p:spPr>
          <a:xfrm>
            <a:off x="457200" y="821440"/>
            <a:ext cx="52578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当前局限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器件论文报告 conductance window、retention、switching dynamics，但不回答任务级问题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DNN+NeuroSim、MemTorch、CrossSim、AIHWKIT 面向无机 RRAM/PCM，无法直接表达有机器件的 photoresponse、双指数 retention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标准 HAT 默认固定硬件实例，容易过拟合单个 D2D mask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zh-CN" sz="1600" b="1" dirty="0">
                <a:solidFill>
                  <a:srgbClr val="1A2B4A"/>
                </a:solidFill>
                <a:latin typeface="Times New Roman"/>
              </a:rPr>
              <a:t>仅凭器件参数或单实例仿真，无法判断真实部署风险</a:t>
            </a:r>
          </a:p>
        </p:txBody>
      </p:sp>
      <p:sp>
        <p:nvSpPr>
          <p:cNvPr id="35" name="Card2Bg"/>
          <p:cNvSpPr>
            <a:spLocks noGrp="1"/>
          </p:cNvSpPr>
          <p:nvPr/>
        </p:nvSpPr>
        <p:spPr>
          <a:xfrm>
            <a:off x="6248400" y="730000"/>
            <a:ext cx="5714400" cy="6014400"/>
          </a:xfrm>
          <a:prstGeom prst="roundRect">
            <a:avLst>
              <a:gd name="adj" fmla="val 3000"/>
            </a:avLst>
          </a:prstGeom>
          <a:solidFill>
            <a:srgbClr val="FEF6F0"/>
          </a:solidFill>
          <a:ln w="19050">
            <a:solidFill>
              <a:srgbClr val="ED7D3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Card2Text"/>
          <p:cNvSpPr/>
          <p:nvPr/>
        </p:nvSpPr>
        <p:spPr>
          <a:xfrm>
            <a:off x="6476400" y="821440"/>
            <a:ext cx="5258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2000" b="1" dirty="0">
                <a:solidFill>
                  <a:srgbClr val="C05400"/>
                </a:solidFill>
                <a:latin typeface="Times New Roman"/>
              </a:rPr>
              <a:t>关键 Gap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1700" b="0" dirty="0">
                <a:solidFill>
                  <a:srgbClr val="1A2B4A"/>
                </a:solidFill>
                <a:latin typeface="Times New Roman"/>
              </a:rPr>
              <a:t>问题不是"没有模拟器"，而是缺少能描述有机器件特性并面向现代视觉模型的系统级方法。</a:t>
            </a:r>
          </a:p>
          <a:p>
            <a:pPr marL="0" indent="0">
              <a:buNone/>
            </a:pPr>
            <a:r>
              <a:rPr lang="zh-CN" sz="7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2000" b="1" dirty="0">
                <a:solidFill>
                  <a:srgbClr val="C05400"/>
                </a:solidFill>
                <a:latin typeface="Times New Roman"/>
              </a:rPr>
              <a:t>断层示意</a:t>
            </a:r>
          </a:p>
          <a:p>
            <a:pPr marL="0" indent="0">
              <a:buNone/>
            </a:pPr>
            <a:r>
              <a:rPr lang="zh-CN" sz="7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1A5CA8"/>
                </a:solidFill>
                <a:latin typeface="Times New Roman"/>
              </a:rPr>
              <a:t>Device Metrics</a:t>
            </a:r>
          </a:p>
          <a:p>
            <a:pPr algn="ctr">
              <a:buNone/>
            </a:pPr>
            <a:r>
              <a:rPr lang="zh-CN" sz="2200" b="1" dirty="0">
                <a:solidFill>
                  <a:srgbClr val="C05400"/>
                </a:solidFill>
                <a:latin typeface="Times New Roman"/>
              </a:rPr>
              <a:t>⟵ 断层 ⟶</a:t>
            </a:r>
          </a:p>
          <a:p>
            <a:pPr algn="ctr">
              <a:buNone/>
            </a:pPr>
            <a:r>
              <a:rPr lang="en-US" sz="1800" b="1" dirty="0">
                <a:solidFill>
                  <a:srgbClr val="1A5CA8"/>
                </a:solidFill>
                <a:latin typeface="Times New Roman"/>
              </a:rPr>
              <a:t>Deployment Risk</a:t>
            </a:r>
          </a:p>
          <a:p>
            <a:pPr marL="0" indent="0">
              <a:buNone/>
            </a:pPr>
            <a:r>
              <a:rPr lang="zh-CN" sz="7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1600" b="0" i="1" dirty="0">
                <a:solidFill>
                  <a:srgbClr val="444444"/>
                </a:solidFill>
                <a:latin typeface="Times New Roman"/>
              </a:rPr>
              <a:t>我们的框架填补这一断层</a:t>
            </a:r>
          </a:p>
        </p:txBody>
      </p:sp>
    </p:spTree>
    <p:extLst>
      <p:ext uri="{BB962C8B-B14F-4D97-AF65-F5344CB8AC3E}">
        <p14:creationId xmlns:p14="http://schemas.microsoft.com/office/powerpoint/2010/main" val="30287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itle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/>
              </a:rPr>
              <a:t>First-Order Behavioral Simulation Framework</a:t>
            </a:r>
          </a:p>
        </p:txBody>
      </p:sp>
      <p:sp>
        <p:nvSpPr>
          <p:cNvPr id="4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400" b="0" dirty="0">
                <a:solidFill>
                  <a:srgbClr val="7AAAD4"/>
                </a:solidFill>
                <a:latin typeface="Times New Roman"/>
              </a:rPr>
              <a:t>4 / 12</a:t>
            </a:r>
          </a:p>
        </p:txBody>
      </p:sp>
      <p:sp>
        <p:nvSpPr>
          <p:cNvPr id="43" name="MainCard"/>
          <p:cNvSpPr>
            <a:spLocks noGrp="1"/>
          </p:cNvSpPr>
          <p:nvPr/>
        </p:nvSpPr>
        <p:spPr>
          <a:xfrm>
            <a:off x="228600" y="730000"/>
            <a:ext cx="117348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Content"/>
          <p:cNvSpPr/>
          <p:nvPr/>
        </p:nvSpPr>
        <p:spPr>
          <a:xfrm>
            <a:off x="457200" y="821440"/>
            <a:ext cx="112788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核心贡献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构建 </a:t>
            </a:r>
            <a:r>
              <a:rPr lang="en-US" sz="1600" b="1" dirty="0">
                <a:solidFill>
                  <a:srgbClr val="1A2B4A"/>
                </a:solidFill>
                <a:latin typeface="Times New Roman"/>
              </a:rPr>
              <a:t>profile-driven, first-order behavioral simulation framework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可替换 profile 接口统一注入：photoresponse (γ_phys)、retention (τ₁/τ₂/A₀)、write NL、ADC、D2D/C2C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支持 ResNet-18、ConvNeXt-Tiny、Tiny-ViT-5M 的混合模拟-数字部署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Hybrid Analog/Digital 映射</a:t>
            </a:r>
          </a:p>
          <a:p>
            <a:pPr marL="342900" indent="-342900">
              <a:buFont typeface="Arial"/>
              <a:buChar char="•"/>
            </a:pPr>
            <a:r>
              <a:rPr lang="en-US" sz="1600" b="1" dirty="0">
                <a:solidFill>
                  <a:srgbClr val="1A5CA8"/>
                </a:solidFill>
                <a:latin typeface="Times New Roman"/>
              </a:rPr>
              <a:t>Analog: </a:t>
            </a:r>
            <a:r>
              <a:rPr lang="en-US" sz="1600" b="0" dirty="0">
                <a:solidFill>
                  <a:srgbClr val="1A2B4A"/>
                </a:solidFill>
                <a:latin typeface="Times New Roman"/>
              </a:rPr>
              <a:t>patch embed, QKV proj, output proj, FFN</a:t>
            </a:r>
          </a:p>
          <a:p>
            <a:pPr marL="342900" indent="-342900">
              <a:buFont typeface="Arial"/>
              <a:buChar char="•"/>
            </a:pPr>
            <a:r>
              <a:rPr lang="en-US" sz="1600" b="1" dirty="0">
                <a:solidFill>
                  <a:srgbClr val="1A5CA8"/>
                </a:solidFill>
                <a:latin typeface="Times New Roman"/>
              </a:rPr>
              <a:t>Digital: </a:t>
            </a:r>
            <a:r>
              <a:rPr lang="en-US" sz="1600" b="0" dirty="0">
                <a:solidFill>
                  <a:srgbClr val="1A2B4A"/>
                </a:solidFill>
                <a:latin typeface="Times New Roman"/>
              </a:rPr>
              <a:t>DW conv, attention scores, softmax, LayerNorm, head</a:t>
            </a:r>
          </a:p>
          <a:p>
            <a:pPr marL="342900" indent="-342900">
              <a:buFont typeface="Arial"/>
              <a:buChar char="•"/>
            </a:pPr>
            <a:r>
              <a:rPr lang="zh-CN" sz="1600" b="0" dirty="0">
                <a:solidFill>
                  <a:srgbClr val="1A2B4A"/>
                </a:solidFill>
                <a:latin typeface="Times New Roman"/>
              </a:rPr>
              <a:t>Differential-pair conductance: W → [G_min, G_max], n_states 量化 + STE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2000" b="1" dirty="0">
                <a:solidFill>
                  <a:srgbClr val="1A5CA8"/>
                </a:solidFill>
                <a:latin typeface="Times New Roman"/>
              </a:rPr>
              <a:t>工作流</a:t>
            </a:r>
          </a:p>
          <a:p>
            <a:pPr algn="ctr">
              <a:buNone/>
            </a:pPr>
            <a:r>
              <a:rPr lang="en-US" sz="1700" b="1" dirty="0">
                <a:solidFill>
                  <a:srgbClr val="1A5CA8"/>
                </a:solidFill>
                <a:latin typeface="Times New Roman"/>
              </a:rPr>
              <a:t>FP32 Weights → Branch Split → G Map → Profile Effects → Readout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  <a:latin typeface="Times New Roman"/>
              </a:rPr>
              <a:t> </a:t>
            </a:r>
          </a:p>
          <a:p>
            <a:pPr marL="0" indent="0">
              <a:buNone/>
            </a:pPr>
            <a:r>
              <a:rPr lang="zh-CN" sz="1500" b="0" i="1" dirty="0">
                <a:solidFill>
                  <a:srgbClr val="444444"/>
                </a:solidFill>
                <a:latin typeface="Times New Roman"/>
              </a:rPr>
              <a:t>CrossSim / AIHWKIT 作为参考基线 (shared-regime sanity check)，非主框架本体</a:t>
            </a:r>
          </a:p>
        </p:txBody>
      </p:sp>
    </p:spTree>
    <p:extLst>
      <p:ext uri="{BB962C8B-B14F-4D97-AF65-F5344CB8AC3E}">
        <p14:creationId xmlns:p14="http://schemas.microsoft.com/office/powerpoint/2010/main" val="323205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zh-CN" sz="2400" b="1" dirty="0">
                <a:solidFill>
                  <a:srgbClr val="FFFFFF"/>
                </a:solidFill>
              </a:rPr>
              <a:t>基线结果与部署脆弱性</a:t>
            </a:r>
            <a:r>
              <a:rPr lang="en-US" sz="1400" b="0" dirty="0">
                <a:solidFill>
                  <a:srgbClr val="7AAAD4"/>
                </a:solidFill>
              </a:rPr>
              <a:t>   Baseline &amp; Fragility</a:t>
            </a:r>
          </a:p>
        </p:txBody>
      </p:sp>
      <p:sp>
        <p:nvSpPr>
          <p:cNvPr id="5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5 / 12</a:t>
            </a:r>
          </a:p>
        </p:txBody>
      </p:sp>
      <p:sp>
        <p:nvSpPr>
          <p:cNvPr id="53" name="LeftCard"/>
          <p:cNvSpPr>
            <a:spLocks noGrp="1"/>
          </p:cNvSpPr>
          <p:nvPr/>
        </p:nvSpPr>
        <p:spPr>
          <a:xfrm>
            <a:off x="228600" y="730000"/>
            <a:ext cx="45720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LeftContent"/>
          <p:cNvSpPr/>
          <p:nvPr/>
        </p:nvSpPr>
        <p:spPr>
          <a:xfrm>
            <a:off x="342900" y="821440"/>
            <a:ext cx="4343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FP32 数字基线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Tiny-ViT: 98.06 / 86.94 / 97.97%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ConvNeXt: 90.74 / 64.12 / 33.22%*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ResNet-18: 95.46 / 78.64%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C0392B"/>
                </a:solidFill>
              </a:rPr>
              <a:t>Canonical Noise 精度骤降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ViT C-100: 86.94→44.06% (</a:t>
            </a:r>
            <a:r>
              <a:rPr lang="en-US" sz="1300" b="1" dirty="0">
                <a:solidFill>
                  <a:srgbClr val="C0392B"/>
                </a:solidFill>
              </a:rPr>
              <a:t>−42.9pp</a:t>
            </a:r>
            <a:r>
              <a:rPr lang="en-US" sz="1300" b="0" dirty="0">
                <a:solidFill>
                  <a:srgbClr val="1A2B4A"/>
                </a:solidFill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CNeXt C-100: 64.12→23.86% (</a:t>
            </a:r>
            <a:r>
              <a:rPr lang="en-US" sz="1300" b="1" dirty="0">
                <a:solidFill>
                  <a:srgbClr val="C0392B"/>
                </a:solidFill>
              </a:rPr>
              <a:t>−40.5pp</a:t>
            </a:r>
            <a:r>
              <a:rPr lang="en-US" sz="1300" b="0" dirty="0">
                <a:solidFill>
                  <a:srgbClr val="1A2B4A"/>
                </a:solidFill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ResNet C-10: 95.46→16.48%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HAT 恢复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ViT V4: C-10 91.94% | C-100 65.48%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CNeXt C4: C-10 89.91% | C-100 60.54%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300" b="1" i="1" dirty="0">
                <a:solidFill>
                  <a:srgbClr val="C0392B"/>
                </a:solidFill>
              </a:rPr>
              <a:t>V2 零噪声 97.39% → 量化不是主因，噪声才是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916592-9575-6A70-050A-A64CD9B00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825500"/>
            <a:ext cx="6985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8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HAT Recovery </a:t>
            </a:r>
            <a:r>
              <a:rPr lang="zh-CN" sz="2200" b="1" dirty="0">
                <a:solidFill>
                  <a:srgbClr val="FFFFFF"/>
                </a:solidFill>
              </a:rPr>
              <a:t>与 Cross-Dataset 表现</a:t>
            </a:r>
          </a:p>
        </p:txBody>
      </p:sp>
      <p:sp>
        <p:nvSpPr>
          <p:cNvPr id="6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6 / 12</a:t>
            </a:r>
          </a:p>
        </p:txBody>
      </p:sp>
      <p:sp>
        <p:nvSpPr>
          <p:cNvPr id="63" name="LeftCard"/>
          <p:cNvSpPr>
            <a:spLocks noGrp="1"/>
          </p:cNvSpPr>
          <p:nvPr/>
        </p:nvSpPr>
        <p:spPr>
          <a:xfrm>
            <a:off x="228600" y="730000"/>
            <a:ext cx="45720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LeftContent"/>
          <p:cNvSpPr/>
          <p:nvPr/>
        </p:nvSpPr>
        <p:spPr>
          <a:xfrm>
            <a:off x="342900" y="821440"/>
            <a:ext cx="4343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HAT Recovery (pp gain)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ViT C-100: 44.06→65.48 (</a:t>
            </a:r>
            <a:r>
              <a:rPr lang="en-US" sz="1300" b="1" dirty="0">
                <a:solidFill>
                  <a:srgbClr val="1A5CA8"/>
                </a:solidFill>
              </a:rPr>
              <a:t>+21.4pp</a:t>
            </a:r>
            <a:r>
              <a:rPr lang="en-US" sz="1300" b="0" dirty="0">
                <a:solidFill>
                  <a:srgbClr val="1A2B4A"/>
                </a:solidFill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CNeXt C-100: 23.86→60.54 (</a:t>
            </a:r>
            <a:r>
              <a:rPr lang="en-US" sz="1300" b="1" dirty="0">
                <a:solidFill>
                  <a:srgbClr val="1A5CA8"/>
                </a:solidFill>
              </a:rPr>
              <a:t>+36.5pp</a:t>
            </a:r>
            <a:r>
              <a:rPr lang="en-US" sz="1300" b="0" dirty="0">
                <a:solidFill>
                  <a:srgbClr val="1A2B4A"/>
                </a:solidFill>
              </a:rPr>
              <a:t>)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C0392B"/>
                </a:solidFill>
              </a:rPr>
              <a:t>Low-Data Boundary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Flowers-102 V3: 4.81±1.25%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Flowers-102 V4 HAT: 22.48±1.82%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数据量不足时噪声与训练不稳定交互更强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Proportional HAT 扩展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ViT prop-HAT: </a:t>
            </a:r>
            <a:r>
              <a:rPr lang="en-US" sz="1300" b="1" dirty="0">
                <a:solidFill>
                  <a:srgbClr val="1A5CA8"/>
                </a:solidFill>
              </a:rPr>
              <a:t>97.37±0.05%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CNeXt 3-seed: 84.75±0.72%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300" b="1" i="1" dirty="0">
                <a:solidFill>
                  <a:srgbClr val="444444"/>
                </a:solidFill>
              </a:rPr>
              <a:t>HAT 有效但恢复强依赖任务难度与数据量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1000D60-2B75-3B91-FC6F-9DEE088B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825500"/>
            <a:ext cx="69850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1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ADC Cliff &amp; Sobol-Based Constraint Ranking</a:t>
            </a:r>
          </a:p>
        </p:txBody>
      </p:sp>
      <p:sp>
        <p:nvSpPr>
          <p:cNvPr id="7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7 / 12</a:t>
            </a:r>
          </a:p>
        </p:txBody>
      </p:sp>
      <p:sp>
        <p:nvSpPr>
          <p:cNvPr id="73" name="TopCard"/>
          <p:cNvSpPr>
            <a:spLocks noGrp="1"/>
          </p:cNvSpPr>
          <p:nvPr/>
        </p:nvSpPr>
        <p:spPr>
          <a:xfrm>
            <a:off x="228600" y="730000"/>
            <a:ext cx="11734800" cy="26000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TopContent"/>
          <p:cNvSpPr/>
          <p:nvPr/>
        </p:nvSpPr>
        <p:spPr>
          <a:xfrm>
            <a:off x="342900" y="821440"/>
            <a:ext cx="11506200" cy="2400000"/>
          </a:xfrm>
          <a:prstGeom prst="rect">
            <a:avLst/>
          </a:prstGeom>
          <a:noFill/>
        </p:spPr>
        <p:txBody>
          <a:bodyPr wrap="square" lIns="228600" tIns="1143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ADC Cliff：</a:t>
            </a:r>
            <a:r>
              <a:rPr lang="en-US" sz="1600" b="1" dirty="0">
                <a:solidFill>
                  <a:srgbClr val="C0392B"/>
                </a:solidFill>
              </a:rPr>
              <a:t>&lt;6-bit → accuracy collapse (~7pp transition)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7×9 grid sweep: σ_D2D ∈ {1..20%} × ADC ∈ {2..12 bits}, 10-run MC per point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Sobol 分解 — 两阶段结构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Full grid: S_ADC = </a:t>
            </a:r>
            <a:r>
              <a:rPr lang="en-US" sz="1300" b="1" dirty="0">
                <a:solidFill>
                  <a:srgbClr val="C0392B"/>
                </a:solidFill>
              </a:rPr>
              <a:t>0.976</a:t>
            </a:r>
            <a:r>
              <a:rPr lang="zh-CN" sz="1300" b="0" dirty="0">
                <a:solidFill>
                  <a:srgbClr val="1A2B4A"/>
                </a:solidFill>
              </a:rPr>
              <a:t>  |  S_D2D = 0.018  |  Interaction = 0.006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Operational (≥6-bit, D2D≤15%): S_D2D = </a:t>
            </a:r>
            <a:r>
              <a:rPr lang="en-US" sz="1300" b="1" dirty="0">
                <a:solidFill>
                  <a:srgbClr val="C0392B"/>
                </a:solidFill>
              </a:rPr>
              <a:t>0.922</a:t>
            </a:r>
            <a:r>
              <a:rPr lang="zh-CN" sz="1300" b="0" dirty="0">
                <a:solidFill>
                  <a:srgbClr val="1A2B4A"/>
                </a:solidFill>
              </a:rPr>
              <a:t>  |  S_ADC = 0.041</a:t>
            </a:r>
          </a:p>
          <a:p>
            <a:pPr marL="342900" indent="-342900">
              <a:buFont typeface="Arial"/>
              <a:buChar char="•"/>
            </a:pPr>
            <a:r>
              <a:rPr lang="zh-CN" sz="1400" b="1" i="1" dirty="0">
                <a:solidFill>
                  <a:srgbClr val="1A5CA8"/>
                </a:solidFill>
              </a:rPr>
              <a:t>设计优先级：先保证 6-bit readout → 再优化 D2D mismatch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1C84689-A897-6B89-E758-2B6214C8C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3429000"/>
            <a:ext cx="5943600" cy="31115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A5EF14-3067-7664-52B6-D200AE800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429000"/>
            <a:ext cx="56896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Fresh-Instance Transfer Failure &amp; Ensemble HAT</a:t>
            </a:r>
          </a:p>
        </p:txBody>
      </p:sp>
      <p:sp>
        <p:nvSpPr>
          <p:cNvPr id="8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8 / 12</a:t>
            </a:r>
          </a:p>
        </p:txBody>
      </p:sp>
      <p:sp>
        <p:nvSpPr>
          <p:cNvPr id="83" name="LeftCard"/>
          <p:cNvSpPr>
            <a:spLocks noGrp="1"/>
          </p:cNvSpPr>
          <p:nvPr/>
        </p:nvSpPr>
        <p:spPr>
          <a:xfrm>
            <a:off x="228600" y="730000"/>
            <a:ext cx="45720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LeftContent"/>
          <p:cNvSpPr/>
          <p:nvPr/>
        </p:nvSpPr>
        <p:spPr>
          <a:xfrm>
            <a:off x="342900" y="821440"/>
            <a:ext cx="4343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C0392B"/>
                </a:solidFill>
              </a:rPr>
              <a:t>Hardware Overfitting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Standard HAT (fixed mask) on fresh arrays: </a:t>
            </a:r>
            <a:r>
              <a:rPr lang="en-US" sz="1400" b="1" dirty="0">
                <a:solidFill>
                  <a:srgbClr val="C0392B"/>
                </a:solidFill>
              </a:rPr>
              <a:t>10.00%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学到的是单实例适配而非分布鲁棒性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Ensemble HAT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每 epoch 重采样 D2D mask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Fresh-instance: </a:t>
            </a:r>
            <a:r>
              <a:rPr lang="en-US" sz="1400" b="1" dirty="0">
                <a:solidFill>
                  <a:srgbClr val="1A5CA8"/>
                </a:solidFill>
              </a:rPr>
              <a:t>86.37 ± 1.54%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Resample 频率消融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Per-epoch: </a:t>
            </a:r>
            <a:r>
              <a:rPr lang="en-US" sz="1300" b="1" dirty="0">
                <a:solidFill>
                  <a:srgbClr val="1A5CA8"/>
                </a:solidFill>
              </a:rPr>
              <a:t>88.41%</a:t>
            </a:r>
            <a:r>
              <a:rPr lang="en-US" sz="1300" b="0" dirty="0">
                <a:solidFill>
                  <a:srgbClr val="1A2B4A"/>
                </a:solidFill>
              </a:rPr>
              <a:t> (best)</a:t>
            </a:r>
          </a:p>
          <a:p>
            <a:pPr marL="342900" indent="-342900">
              <a:buFont typeface="Arial"/>
              <a:buChar char="•"/>
            </a:pPr>
            <a:r>
              <a:rPr lang="en-US" sz="1300" b="0" dirty="0">
                <a:solidFill>
                  <a:srgbClr val="1A2B4A"/>
                </a:solidFill>
              </a:rPr>
              <a:t>Per-batch: 86.16% | Fixed: 87.18%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300" b="1" i="1" dirty="0">
                <a:solidFill>
                  <a:srgbClr val="444444"/>
                </a:solidFill>
              </a:rPr>
              <a:t>最"部署导向"的发现：训练方式本身过拟合硬件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02655E-288D-F5A2-DB20-1487EE89D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825500"/>
            <a:ext cx="6985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6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</a:rPr>
              <a:t>Zero-Shot Transfer to Literature-Calibrated OPECT</a:t>
            </a:r>
          </a:p>
        </p:txBody>
      </p:sp>
      <p:sp>
        <p:nvSpPr>
          <p:cNvPr id="9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9 / 12</a:t>
            </a:r>
          </a:p>
        </p:txBody>
      </p:sp>
      <p:sp>
        <p:nvSpPr>
          <p:cNvPr id="93" name="LeftCard"/>
          <p:cNvSpPr>
            <a:spLocks noGrp="1"/>
          </p:cNvSpPr>
          <p:nvPr/>
        </p:nvSpPr>
        <p:spPr>
          <a:xfrm>
            <a:off x="228600" y="730000"/>
            <a:ext cx="45720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LeftContent"/>
          <p:cNvSpPr/>
          <p:nvPr/>
        </p:nvSpPr>
        <p:spPr>
          <a:xfrm>
            <a:off x="342900" y="821440"/>
            <a:ext cx="4343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Profile Substitution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可替换 literature-calibrated 或 measured profiles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2025 OPECT Case Study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Liu 2025 OPECT：G_range=47.3, 34 states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σ_C2C=2%, σ_D2D=3% (proxy calibrated)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Ensemble HAT zero-shot = </a:t>
            </a:r>
            <a:r>
              <a:rPr lang="en-US" sz="1500" b="1" dirty="0">
                <a:solidFill>
                  <a:srgbClr val="1A5CA8"/>
                </a:solidFill>
              </a:rPr>
              <a:t>88.53%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Standard HAT → </a:t>
            </a:r>
            <a:r>
              <a:rPr lang="en-US" sz="1300" b="1" dirty="0">
                <a:solidFill>
                  <a:srgbClr val="C0392B"/>
                </a:solidFill>
              </a:rPr>
              <a:t>10.00%</a:t>
            </a:r>
            <a:r>
              <a:rPr lang="zh-CN" sz="1300" b="0" dirty="0">
                <a:solidFill>
                  <a:srgbClr val="1A2B4A"/>
                </a:solidFill>
              </a:rPr>
              <a:t> collapse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Cross-Profile 对比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ConvNeXt C4：Ideal 84.1% / PCM 45.0% / RRAM 10.0%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Tiny-ViT V4 → 所有 profile 均 collapse 到 10%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300" b="1" i="1" dirty="0">
                <a:solidFill>
                  <a:srgbClr val="444444"/>
                </a:solidFill>
              </a:rPr>
              <a:t>硬件完全可用前即可前瞻评估部署后果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F18ABB4-4143-B78F-2F4B-7AA739C0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0" y="825500"/>
            <a:ext cx="69850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22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Limitations &amp; Scope Boundaries</a:t>
            </a:r>
          </a:p>
        </p:txBody>
      </p:sp>
      <p:sp>
        <p:nvSpPr>
          <p:cNvPr id="10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10 / 12</a:t>
            </a:r>
          </a:p>
        </p:txBody>
      </p:sp>
      <p:sp>
        <p:nvSpPr>
          <p:cNvPr id="103" name="Card1"/>
          <p:cNvSpPr>
            <a:spLocks noGrp="1"/>
          </p:cNvSpPr>
          <p:nvPr/>
        </p:nvSpPr>
        <p:spPr>
          <a:xfrm>
            <a:off x="228600" y="730000"/>
            <a:ext cx="5715000" cy="2857500"/>
          </a:xfrm>
          <a:prstGeom prst="roundRect">
            <a:avLst>
              <a:gd name="adj" fmla="val 3000"/>
            </a:avLst>
          </a:prstGeom>
          <a:solidFill>
            <a:srgbClr val="FEF6F0"/>
          </a:solidFill>
          <a:ln w="19050">
            <a:solidFill>
              <a:srgbClr val="ED7D31"/>
            </a:solidFill>
          </a:ln>
        </p:spPr>
        <p:txBody>
          <a:bodyPr wrap="square" lIns="228600" tIns="152400" rIns="228600" anchor="t"/>
          <a:lstStyle/>
          <a:p>
            <a:pPr marL="0" indent="0">
              <a:buNone/>
            </a:pPr>
            <a:r>
              <a:rPr lang="zh-CN" sz="1500" b="1" dirty="0">
                <a:solidFill>
                  <a:srgbClr val="C05400"/>
                </a:solidFill>
              </a:rPr>
              <a:t>模型层面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First-order behavioral，非 chip-accurate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未完整建模 IR drop、寄生效应、ADC 校准误差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IR/sneak 灵敏度基于无机 ReRAM 文献范围</a:t>
            </a:r>
          </a:p>
        </p:txBody>
      </p:sp>
      <p:sp>
        <p:nvSpPr>
          <p:cNvPr id="104" name="Card2"/>
          <p:cNvSpPr>
            <a:spLocks noGrp="1"/>
          </p:cNvSpPr>
          <p:nvPr/>
        </p:nvSpPr>
        <p:spPr>
          <a:xfrm>
            <a:off x="6248400" y="730000"/>
            <a:ext cx="5715000" cy="2857500"/>
          </a:xfrm>
          <a:prstGeom prst="roundRect">
            <a:avLst>
              <a:gd name="adj" fmla="val 3000"/>
            </a:avLst>
          </a:prstGeom>
          <a:solidFill>
            <a:srgbClr val="FEF6F0"/>
          </a:solidFill>
          <a:ln w="19050">
            <a:solidFill>
              <a:srgbClr val="ED7D31"/>
            </a:solidFill>
          </a:ln>
        </p:spPr>
        <p:txBody>
          <a:bodyPr wrap="square" lIns="228600" tIns="152400" rIns="228600" anchor="t"/>
          <a:lstStyle/>
          <a:p>
            <a:pPr marL="0" indent="0">
              <a:buNone/>
            </a:pPr>
            <a:r>
              <a:rPr lang="zh-CN" sz="1500" b="1" dirty="0">
                <a:solidFill>
                  <a:srgbClr val="C05400"/>
                </a:solidFill>
              </a:rPr>
              <a:t>训练层面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Severe NL write 仍是主要失败模式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NL = 2.0 → </a:t>
            </a:r>
            <a:r>
              <a:rPr lang="en-US" sz="1200" b="1" dirty="0">
                <a:solidFill>
                  <a:srgbClr val="C0392B"/>
                </a:solidFill>
              </a:rPr>
              <a:t>27.72 ± 0.82%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Asymmetry &gt;2% 精度急剧下降 (85.73%→33.81%)</a:t>
            </a:r>
          </a:p>
        </p:txBody>
      </p:sp>
      <p:sp>
        <p:nvSpPr>
          <p:cNvPr id="105" name="Card3"/>
          <p:cNvSpPr>
            <a:spLocks noGrp="1"/>
          </p:cNvSpPr>
          <p:nvPr/>
        </p:nvSpPr>
        <p:spPr>
          <a:xfrm>
            <a:off x="228600" y="3886900"/>
            <a:ext cx="5715000" cy="2857500"/>
          </a:xfrm>
          <a:prstGeom prst="roundRect">
            <a:avLst>
              <a:gd name="adj" fmla="val 3000"/>
            </a:avLst>
          </a:prstGeom>
          <a:solidFill>
            <a:srgbClr val="FEF6F0"/>
          </a:solidFill>
          <a:ln w="19050">
            <a:solidFill>
              <a:srgbClr val="ED7D31"/>
            </a:solidFill>
          </a:ln>
        </p:spPr>
        <p:txBody>
          <a:bodyPr wrap="square" lIns="228600" tIns="152400" rIns="228600" anchor="t"/>
          <a:lstStyle/>
          <a:p>
            <a:pPr marL="0" indent="0">
              <a:buNone/>
            </a:pPr>
            <a:r>
              <a:rPr lang="zh-CN" sz="1500" b="1" dirty="0">
                <a:solidFill>
                  <a:srgbClr val="C05400"/>
                </a:solidFill>
              </a:rPr>
              <a:t>对比验证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CrossSim comparison 已完成 (shared-regime)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AIHWKIT: ResNet-18 90.08±0.21% (matched regime)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Noise-to-conductance mapping 语义差异仍需解决</a:t>
            </a:r>
          </a:p>
        </p:txBody>
      </p:sp>
      <p:sp>
        <p:nvSpPr>
          <p:cNvPr id="106" name="Card4"/>
          <p:cNvSpPr>
            <a:spLocks noGrp="1"/>
          </p:cNvSpPr>
          <p:nvPr/>
        </p:nvSpPr>
        <p:spPr>
          <a:xfrm>
            <a:off x="6248400" y="3886900"/>
            <a:ext cx="5715000" cy="2857500"/>
          </a:xfrm>
          <a:prstGeom prst="roundRect">
            <a:avLst>
              <a:gd name="adj" fmla="val 3000"/>
            </a:avLst>
          </a:prstGeom>
          <a:solidFill>
            <a:srgbClr val="FEF6F0"/>
          </a:solidFill>
          <a:ln w="19050">
            <a:solidFill>
              <a:srgbClr val="ED7D31"/>
            </a:solidFill>
          </a:ln>
        </p:spPr>
        <p:txBody>
          <a:bodyPr wrap="square" lIns="228600" tIns="152400" rIns="228600" anchor="t"/>
          <a:lstStyle/>
          <a:p>
            <a:pPr marL="0" indent="0">
              <a:buNone/>
            </a:pPr>
            <a:r>
              <a:rPr lang="zh-CN" sz="1500" b="1" dirty="0">
                <a:solidFill>
                  <a:srgbClr val="C05400"/>
                </a:solidFill>
              </a:rPr>
              <a:t>能耗结论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11.45× vs FP32 (first-order upper bound)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Routing overhead → 9.90–11.10×</a:t>
            </a:r>
          </a:p>
          <a:p>
            <a:pPr marL="342900" indent="-342900">
              <a:buFont typeface="Arial"/>
              <a:buChar char="•"/>
            </a:pPr>
            <a:r>
              <a:rPr lang="zh-CN" sz="1200" b="0" dirty="0">
                <a:solidFill>
                  <a:srgbClr val="1A2B4A"/>
                </a:solidFill>
              </a:rPr>
              <a:t>数字 attention 占 57.9%，273.94 µJ footprint</a:t>
            </a:r>
          </a:p>
        </p:txBody>
      </p:sp>
    </p:spTree>
    <p:extLst>
      <p:ext uri="{BB962C8B-B14F-4D97-AF65-F5344CB8AC3E}">
        <p14:creationId xmlns:p14="http://schemas.microsoft.com/office/powerpoint/2010/main" val="266774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Core Takeaways</a:t>
            </a:r>
          </a:p>
        </p:txBody>
      </p:sp>
      <p:sp>
        <p:nvSpPr>
          <p:cNvPr id="11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11 / 12</a:t>
            </a:r>
          </a:p>
        </p:txBody>
      </p:sp>
      <p:sp>
        <p:nvSpPr>
          <p:cNvPr id="113" name="HeaderBar"/>
          <p:cNvSpPr>
            <a:spLocks noGrp="1"/>
          </p:cNvSpPr>
          <p:nvPr/>
        </p:nvSpPr>
        <p:spPr>
          <a:xfrm>
            <a:off x="228600" y="730000"/>
            <a:ext cx="11734800" cy="457200"/>
          </a:xfrm>
          <a:prstGeom prst="roundRect">
            <a:avLst>
              <a:gd name="adj" fmla="val 10000"/>
            </a:avLst>
          </a:prstGeom>
          <a:solidFill>
            <a:srgbClr val="1A5CA8"/>
          </a:solidFill>
          <a:ln>
            <a:noFill/>
          </a:ln>
        </p:spPr>
        <p:txBody>
          <a:bodyPr lIns="228600" anchor="ctr"/>
          <a:lstStyle/>
          <a:p>
            <a:pPr algn="l">
              <a:buNone/>
            </a:pPr>
            <a:r>
              <a:rPr lang="zh-CN" sz="1600" b="1" dirty="0">
                <a:solidFill>
                  <a:srgbClr val="FFFFFF"/>
                </a:solidFill>
              </a:rPr>
              <a:t>完成了 profile-driven, first-order behavioral framework</a:t>
            </a:r>
          </a:p>
        </p:txBody>
      </p:sp>
      <p:sp>
        <p:nvSpPr>
          <p:cNvPr id="114" name="Finding1"/>
          <p:cNvSpPr>
            <a:spLocks noGrp="1"/>
          </p:cNvSpPr>
          <p:nvPr/>
        </p:nvSpPr>
        <p:spPr>
          <a:xfrm>
            <a:off x="228600" y="1295400"/>
            <a:ext cx="11734800" cy="914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 lIns="228600" anchor="ctr"/>
          <a:lstStyle/>
          <a:p>
            <a:pPr algn="l">
              <a:buNone/>
            </a:pPr>
            <a:r>
              <a:rPr lang="en-US" sz="1600" b="1" dirty="0">
                <a:solidFill>
                  <a:srgbClr val="1A5CA8"/>
                </a:solidFill>
              </a:rPr>
              <a:t>1  </a:t>
            </a:r>
            <a:r>
              <a:rPr lang="zh-CN" sz="1400" b="0" dirty="0">
                <a:solidFill>
                  <a:srgbClr val="1A2B4A"/>
                </a:solidFill>
              </a:rPr>
              <a:t>ADC resolution 是首要瓶颈，</a:t>
            </a:r>
            <a:r>
              <a:rPr lang="en-US" sz="1400" b="1" dirty="0">
                <a:solidFill>
                  <a:srgbClr val="C0392B"/>
                </a:solidFill>
              </a:rPr>
              <a:t>6-bit</a:t>
            </a:r>
            <a:r>
              <a:rPr lang="zh-CN" sz="1400" b="0" dirty="0">
                <a:solidFill>
                  <a:srgbClr val="1A2B4A"/>
                </a:solidFill>
              </a:rPr>
              <a:t> 是明显门槛 (S_ADC = 0.976 全局)</a:t>
            </a:r>
          </a:p>
        </p:txBody>
      </p:sp>
      <p:sp>
        <p:nvSpPr>
          <p:cNvPr id="115" name="Finding2"/>
          <p:cNvSpPr>
            <a:spLocks noGrp="1"/>
          </p:cNvSpPr>
          <p:nvPr/>
        </p:nvSpPr>
        <p:spPr>
          <a:xfrm>
            <a:off x="228600" y="2324100"/>
            <a:ext cx="11734800" cy="914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 lIns="228600" anchor="ctr"/>
          <a:lstStyle/>
          <a:p>
            <a:pPr algn="l">
              <a:buNone/>
            </a:pPr>
            <a:r>
              <a:rPr lang="en-US" sz="1600" b="1" dirty="0">
                <a:solidFill>
                  <a:srgbClr val="1A5CA8"/>
                </a:solidFill>
              </a:rPr>
              <a:t>2  </a:t>
            </a:r>
            <a:r>
              <a:rPr lang="zh-CN" sz="1400" b="0" dirty="0">
                <a:solidFill>
                  <a:srgbClr val="1A2B4A"/>
                </a:solidFill>
              </a:rPr>
              <a:t>达到 6-bit 后，D2D variability 成为主导约束 (S_D2D = 0.922 操作区间)</a:t>
            </a:r>
          </a:p>
        </p:txBody>
      </p:sp>
      <p:sp>
        <p:nvSpPr>
          <p:cNvPr id="116" name="Finding3"/>
          <p:cNvSpPr>
            <a:spLocks noGrp="1"/>
          </p:cNvSpPr>
          <p:nvPr/>
        </p:nvSpPr>
        <p:spPr>
          <a:xfrm>
            <a:off x="228600" y="3352800"/>
            <a:ext cx="11734800" cy="914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 lIns="228600" anchor="ctr"/>
          <a:lstStyle/>
          <a:p>
            <a:pPr algn="l">
              <a:buNone/>
            </a:pPr>
            <a:r>
              <a:rPr lang="en-US" sz="1600" b="1" dirty="0">
                <a:solidFill>
                  <a:srgbClr val="1A5CA8"/>
                </a:solidFill>
              </a:rPr>
              <a:t>3  </a:t>
            </a:r>
            <a:r>
              <a:rPr lang="zh-CN" sz="1400" b="0" dirty="0">
                <a:solidFill>
                  <a:srgbClr val="1A2B4A"/>
                </a:solidFill>
              </a:rPr>
              <a:t>Standard HAT 过拟合单实例 (10.00%)，Ensemble HAT → </a:t>
            </a:r>
            <a:r>
              <a:rPr lang="en-US" sz="1400" b="1" dirty="0">
                <a:solidFill>
                  <a:srgbClr val="1A5CA8"/>
                </a:solidFill>
              </a:rPr>
              <a:t>86.37 ± 1.54%</a:t>
            </a:r>
          </a:p>
        </p:txBody>
      </p:sp>
      <p:sp>
        <p:nvSpPr>
          <p:cNvPr id="117" name="Finding4"/>
          <p:cNvSpPr>
            <a:spLocks noGrp="1"/>
          </p:cNvSpPr>
          <p:nvPr/>
        </p:nvSpPr>
        <p:spPr>
          <a:xfrm>
            <a:off x="228600" y="4381500"/>
            <a:ext cx="11734800" cy="914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 lIns="228600" anchor="ctr"/>
          <a:lstStyle/>
          <a:p>
            <a:pPr algn="l">
              <a:buNone/>
            </a:pPr>
            <a:r>
              <a:rPr lang="en-US" sz="1600" b="1" dirty="0">
                <a:solidFill>
                  <a:srgbClr val="1A5CA8"/>
                </a:solidFill>
              </a:rPr>
              <a:t>4  </a:t>
            </a:r>
            <a:r>
              <a:rPr lang="zh-CN" sz="1400" b="0" dirty="0">
                <a:solidFill>
                  <a:srgbClr val="1A2B4A"/>
                </a:solidFill>
              </a:rPr>
              <a:t>OPECT zero-shot = </a:t>
            </a:r>
            <a:r>
              <a:rPr lang="en-US" sz="1400" b="1" dirty="0">
                <a:solidFill>
                  <a:srgbClr val="1A5CA8"/>
                </a:solidFill>
              </a:rPr>
              <a:t>88.53%</a:t>
            </a:r>
            <a:r>
              <a:rPr lang="zh-CN" sz="1400" b="0" dirty="0">
                <a:solidFill>
                  <a:srgbClr val="1A2B4A"/>
                </a:solidFill>
              </a:rPr>
              <a:t> | 复合应力 (2%C2C+3%D2D+6bit+1%IR+1000s) = </a:t>
            </a:r>
            <a:r>
              <a:rPr lang="en-US" sz="1400" b="1" dirty="0">
                <a:solidFill>
                  <a:srgbClr val="1A5CA8"/>
                </a:solidFill>
              </a:rPr>
              <a:t>89.61%</a:t>
            </a:r>
          </a:p>
        </p:txBody>
      </p:sp>
      <p:sp>
        <p:nvSpPr>
          <p:cNvPr id="118" name="Finding5"/>
          <p:cNvSpPr>
            <a:spLocks noGrp="1"/>
          </p:cNvSpPr>
          <p:nvPr/>
        </p:nvSpPr>
        <p:spPr>
          <a:xfrm>
            <a:off x="228600" y="5410200"/>
            <a:ext cx="11734800" cy="914400"/>
          </a:xfrm>
          <a:prstGeom prst="roundRect">
            <a:avLst>
              <a:gd name="adj" fmla="val 5000"/>
            </a:avLst>
          </a:prstGeom>
          <a:solidFill>
            <a:srgbClr val="FEF6F0"/>
          </a:solidFill>
          <a:ln w="19050">
            <a:solidFill>
              <a:srgbClr val="ED7D31"/>
            </a:solidFill>
          </a:ln>
        </p:spPr>
        <p:txBody>
          <a:bodyPr lIns="228600" anchor="ctr"/>
          <a:lstStyle/>
          <a:p>
            <a:pPr algn="l">
              <a:buNone/>
            </a:pPr>
            <a:r>
              <a:rPr lang="en-US" sz="1600" b="1" dirty="0">
                <a:solidFill>
                  <a:srgbClr val="C05400"/>
                </a:solidFill>
              </a:rPr>
              <a:t>5  </a:t>
            </a:r>
            <a:r>
              <a:rPr lang="zh-CN" sz="1400" b="0" dirty="0">
                <a:solidFill>
                  <a:srgbClr val="1A2B4A"/>
                </a:solidFill>
              </a:rPr>
              <a:t>NL write 仍是 bottleneck：NL=2.0 → </a:t>
            </a:r>
            <a:r>
              <a:rPr lang="en-US" sz="1400" b="1" dirty="0">
                <a:solidFill>
                  <a:srgbClr val="C0392B"/>
                </a:solidFill>
              </a:rPr>
              <a:t>27.72%</a:t>
            </a:r>
            <a:r>
              <a:rPr lang="zh-CN" sz="1400" b="0" dirty="0">
                <a:solidFill>
                  <a:srgbClr val="1A2B4A"/>
                </a:solidFill>
              </a:rPr>
              <a:t> | Asymmetry &gt;2% → 急剧下降</a:t>
            </a:r>
          </a:p>
        </p:txBody>
      </p:sp>
    </p:spTree>
    <p:extLst>
      <p:ext uri="{BB962C8B-B14F-4D97-AF65-F5344CB8AC3E}">
        <p14:creationId xmlns:p14="http://schemas.microsoft.com/office/powerpoint/2010/main" val="378178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Bg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itleText"/>
          <p:cNvSpPr/>
          <p:nvPr/>
        </p:nvSpPr>
        <p:spPr>
          <a:xfrm>
            <a:off x="342900" y="91440"/>
            <a:ext cx="11506200" cy="50292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Discussion</a:t>
            </a:r>
          </a:p>
        </p:txBody>
      </p:sp>
      <p:sp>
        <p:nvSpPr>
          <p:cNvPr id="122" name="SlideNum"/>
          <p:cNvSpPr/>
          <p:nvPr/>
        </p:nvSpPr>
        <p:spPr>
          <a:xfrm>
            <a:off x="11200000" y="150000"/>
            <a:ext cx="800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buNone/>
            </a:pPr>
            <a:r>
              <a:rPr lang="en-US" sz="1200" b="0" dirty="0">
                <a:solidFill>
                  <a:srgbClr val="7AAAD4"/>
                </a:solidFill>
              </a:rPr>
              <a:t>12 / 12</a:t>
            </a:r>
          </a:p>
        </p:txBody>
      </p:sp>
      <p:sp>
        <p:nvSpPr>
          <p:cNvPr id="123" name="LeftCard"/>
          <p:cNvSpPr>
            <a:spLocks noGrp="1"/>
          </p:cNvSpPr>
          <p:nvPr/>
        </p:nvSpPr>
        <p:spPr>
          <a:xfrm>
            <a:off x="228600" y="730000"/>
            <a:ext cx="5715000" cy="60144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9050">
            <a:solidFill>
              <a:srgbClr val="D0E4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LeftContent"/>
          <p:cNvSpPr/>
          <p:nvPr/>
        </p:nvSpPr>
        <p:spPr>
          <a:xfrm>
            <a:off x="342900" y="821440"/>
            <a:ext cx="5486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技术推进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阵列级建模：IR drop、寄生、有机半导体高 sheet resistance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扩展 measured-profile 数据库 (OPECT, DNTT 等)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改进 HAT 应对 NL write (当前 NL=2.0 recovery bottleneck)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CrossSim / AIHWKIT joint calibration (扩展到 retention, photoresponse)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扩展到更大模型 (ViT-S/B) 和更复杂任务 (ImageNet subset)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待验证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Scale-masking 效应在 state-dependent noise 下是否仍成立</a:t>
            </a:r>
          </a:p>
          <a:p>
            <a:pPr marL="342900" indent="-342900">
              <a:buFont typeface="Arial"/>
              <a:buChar char="•"/>
            </a:pPr>
            <a:r>
              <a:rPr lang="zh-CN" sz="1300" b="0" dirty="0">
                <a:solidFill>
                  <a:srgbClr val="1A2B4A"/>
                </a:solidFill>
              </a:rPr>
              <a:t>能耗 placeholder → chip-level measured values</a:t>
            </a:r>
          </a:p>
        </p:txBody>
      </p:sp>
      <p:sp>
        <p:nvSpPr>
          <p:cNvPr id="125" name="RightCard"/>
          <p:cNvSpPr>
            <a:spLocks noGrp="1"/>
          </p:cNvSpPr>
          <p:nvPr/>
        </p:nvSpPr>
        <p:spPr>
          <a:xfrm>
            <a:off x="6248400" y="730000"/>
            <a:ext cx="5715000" cy="6014400"/>
          </a:xfrm>
          <a:prstGeom prst="roundRect">
            <a:avLst>
              <a:gd name="adj" fmla="val 3000"/>
            </a:avLst>
          </a:prstGeom>
          <a:solidFill>
            <a:srgbClr val="EBF2FA"/>
          </a:solidFill>
          <a:ln w="19050">
            <a:solidFill>
              <a:srgbClr val="1A5CA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RightContent"/>
          <p:cNvSpPr/>
          <p:nvPr/>
        </p:nvSpPr>
        <p:spPr>
          <a:xfrm>
            <a:off x="6362700" y="821440"/>
            <a:ext cx="5486400" cy="5826960"/>
          </a:xfrm>
          <a:prstGeom prst="rect">
            <a:avLst/>
          </a:prstGeom>
          <a:noFill/>
        </p:spPr>
        <p:txBody>
          <a:bodyPr wrap="square" lIns="228600" tIns="228600" rIns="228600" anchor="t"/>
          <a:lstStyle/>
          <a:p>
            <a:pPr marL="0" indent="0">
              <a:buNone/>
            </a:pPr>
            <a:r>
              <a:rPr lang="zh-CN" sz="1600" b="1" dirty="0">
                <a:solidFill>
                  <a:srgbClr val="1A5CA8"/>
                </a:solidFill>
              </a:rPr>
              <a:t>希望讨论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342900" indent="-342900">
              <a:buFont typeface="Arial"/>
              <a:buChar char="❶"/>
            </a:pPr>
            <a:r>
              <a:rPr lang="zh-CN" sz="1400" b="1" dirty="0">
                <a:solidFill>
                  <a:srgbClr val="1A2B4A"/>
                </a:solidFill>
              </a:rPr>
              <a:t>优先补哪类器件实测数据</a:t>
            </a:r>
          </a:p>
          <a:p>
            <a:pPr marL="571500" indent="-228600">
              <a:buFont typeface="Arial"/>
              <a:buChar char="–"/>
            </a:pPr>
            <a:r>
              <a:rPr lang="zh-CN" sz="1200" b="0" dirty="0">
                <a:solidFill>
                  <a:srgbClr val="444444"/>
                </a:solidFill>
              </a:rPr>
              <a:t>当前 σ_C2C/σ_D2D 为 proxy estimate，需 full-array 测量验证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342900" indent="-342900">
              <a:buFont typeface="Arial"/>
              <a:buChar char="❷"/>
            </a:pPr>
            <a:r>
              <a:rPr lang="zh-CN" sz="1400" b="1" dirty="0">
                <a:solidFill>
                  <a:srgbClr val="1A2B4A"/>
                </a:solidFill>
              </a:rPr>
              <a:t>训练策略 × 器件设计联合优化</a:t>
            </a:r>
          </a:p>
          <a:p>
            <a:pPr marL="571500" indent="-228600">
              <a:buFont typeface="Arial"/>
              <a:buChar char="–"/>
            </a:pPr>
            <a:r>
              <a:rPr lang="zh-CN" sz="1200" b="0" dirty="0">
                <a:solidFill>
                  <a:srgbClr val="444444"/>
                </a:solidFill>
              </a:rPr>
              <a:t>Ensemble HAT + 器件均匀性改进的协同空间</a:t>
            </a:r>
          </a:p>
          <a:p>
            <a:pPr marL="0" indent="0">
              <a:buNone/>
            </a:pPr>
            <a:r>
              <a:rPr lang="zh-CN" sz="500" dirty="0">
                <a:solidFill>
                  <a:srgbClr val="CCCCCC"/>
                </a:solidFill>
              </a:rPr>
              <a:t> </a:t>
            </a:r>
          </a:p>
          <a:p>
            <a:pPr marL="342900" indent="-342900">
              <a:buFont typeface="Arial"/>
              <a:buChar char="❸"/>
            </a:pPr>
            <a:r>
              <a:rPr lang="zh-CN" sz="1400" b="1" dirty="0">
                <a:solidFill>
                  <a:srgbClr val="1A2B4A"/>
                </a:solidFill>
              </a:rPr>
              <a:t>是否需要外部合作验证</a:t>
            </a:r>
          </a:p>
          <a:p>
            <a:pPr marL="571500" indent="-228600">
              <a:buFont typeface="Arial"/>
              <a:buChar char="–"/>
            </a:pPr>
            <a:r>
              <a:rPr lang="zh-CN" sz="1200" b="0" dirty="0">
                <a:solidFill>
                  <a:srgbClr val="444444"/>
                </a:solidFill>
              </a:rPr>
              <a:t>Fabricated array → sim-to-real validation pathway</a:t>
            </a:r>
          </a:p>
          <a:p>
            <a:pPr marL="0" indent="0">
              <a:buNone/>
            </a:pPr>
            <a:r>
              <a:rPr lang="zh-CN" sz="600" dirty="0">
                <a:solidFill>
                  <a:srgbClr val="CCCCCC"/>
                </a:solidFill>
              </a:rPr>
              <a:t> </a:t>
            </a:r>
          </a:p>
          <a:p>
            <a:pPr marL="0" indent="0">
              <a:buNone/>
            </a:pPr>
            <a:r>
              <a:rPr lang="zh-CN" sz="1300" b="0" i="1" dirty="0">
                <a:solidFill>
                  <a:srgbClr val="444444"/>
                </a:solidFill>
              </a:rPr>
              <a:t>收尾时抛出讨论点，明确下一阶段推进方向</a:t>
            </a:r>
          </a:p>
        </p:txBody>
      </p:sp>
    </p:spTree>
    <p:extLst>
      <p:ext uri="{BB962C8B-B14F-4D97-AF65-F5344CB8AC3E}">
        <p14:creationId xmlns:p14="http://schemas.microsoft.com/office/powerpoint/2010/main" val="176226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 [1774975611185]">
  <a:themeElements>
    <a:clrScheme name="Office">
      <a:dk1>
        <a:srgbClr val="1A2B4A"/>
      </a:dk1>
      <a:lt1>
        <a:srgbClr val="FFFFFF"/>
      </a:lt1>
      <a:dk2>
        <a:srgbClr val="2C4A7C"/>
      </a:dk2>
      <a:lt2>
        <a:srgbClr val="F0F4F9"/>
      </a:lt2>
      <a:accent1>
        <a:srgbClr val="1A5CA8"/>
      </a:accent1>
      <a:accent2>
        <a:srgbClr val="E87722"/>
      </a:accent2>
      <a:accent3>
        <a:srgbClr val="2E86AB"/>
      </a:accent3>
      <a:accent4>
        <a:srgbClr val="3DAA5C"/>
      </a:accent4>
      <a:accent5>
        <a:srgbClr val="6B4C9A"/>
      </a:accent5>
      <a:accent6>
        <a:srgbClr val="C0392B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136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537898-A884-4735-8DDB-A4C3A9339D6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759928e-44ab-4e37-a587-defea400d3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3064</TotalTime>
  <Words>1543</Words>
  <Application>Microsoft Office PowerPoint</Application>
  <PresentationFormat>宽屏</PresentationFormat>
  <Paragraphs>189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Arial</vt:lpstr>
      <vt:lpstr>Calibri</vt:lpstr>
      <vt:lpstr>Times New Roman</vt:lpstr>
      <vt:lpstr>Office 主题​​</vt:lpstr>
      <vt:lpstr>Office 主题​​ [1774975611185]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松桥 李</dc:creator>
  <cp:lastModifiedBy>松桥 李</cp:lastModifiedBy>
  <cp:revision>5</cp:revision>
  <dcterms:created xsi:type="dcterms:W3CDTF">2026-03-31T16:46:51Z</dcterms:created>
  <dcterms:modified xsi:type="dcterms:W3CDTF">2026-04-17T09:03:29Z</dcterms:modified>
</cp:coreProperties>
</file>